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60f5ed0df40db" /><Relationship Type="http://schemas.openxmlformats.org/officeDocument/2006/relationships/extended-properties" Target="/docProps/app.xml" Id="Re361eccab68b499d" /><Relationship Type="http://schemas.openxmlformats.org/officeDocument/2006/relationships/officeDocument" Target="/ppt/presentation.xml" Id="R6edede27249544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68e3ea7234155"/>
  </p:sldMasterIdLst>
  <p:notesMasterIdLst>
    <p:notesMasterId xmlns:r="http://schemas.openxmlformats.org/officeDocument/2006/relationships" r:id="R83475a42df924fa9"/>
  </p:notesMasterIdLst>
  <p:sldIdLst>
    <p:sldId xmlns:r="http://schemas.openxmlformats.org/officeDocument/2006/relationships" id="256" r:id="Rc2e4b3b7e35d4b47"/>
    <p:sldId xmlns:r="http://schemas.openxmlformats.org/officeDocument/2006/relationships" id="257" r:id="R362dab33afbd4088"/>
    <p:sldId xmlns:r="http://schemas.openxmlformats.org/officeDocument/2006/relationships" id="258" r:id="R1b68d59f5a644e43"/>
    <p:sldId xmlns:r="http://schemas.openxmlformats.org/officeDocument/2006/relationships" id="259" r:id="R3d6791dc0cb046f6"/>
    <p:sldId xmlns:r="http://schemas.openxmlformats.org/officeDocument/2006/relationships" id="260" r:id="Rd117c910411242c4"/>
    <p:sldId xmlns:r="http://schemas.openxmlformats.org/officeDocument/2006/relationships" id="261" r:id="R630ff0e4ab304a68"/>
    <p:sldId xmlns:r="http://schemas.openxmlformats.org/officeDocument/2006/relationships" id="262" r:id="R2050ad9efbca4258"/>
    <p:sldId xmlns:r="http://schemas.openxmlformats.org/officeDocument/2006/relationships" id="263" r:id="R495357ead3504d17"/>
    <p:sldId xmlns:r="http://schemas.openxmlformats.org/officeDocument/2006/relationships" id="264" r:id="R24c878d9022f44d0"/>
    <p:sldId xmlns:r="http://schemas.openxmlformats.org/officeDocument/2006/relationships" id="265" r:id="Re3e58af58e664d09"/>
    <p:sldId xmlns:r="http://schemas.openxmlformats.org/officeDocument/2006/relationships" id="266" r:id="R366c390cd58b43b8"/>
    <p:sldId xmlns:r="http://schemas.openxmlformats.org/officeDocument/2006/relationships" id="267" r:id="R09048c62ea044ebc"/>
    <p:sldId xmlns:r="http://schemas.openxmlformats.org/officeDocument/2006/relationships" id="268" r:id="R77497a19f4ad4d6c"/>
    <p:sldId xmlns:r="http://schemas.openxmlformats.org/officeDocument/2006/relationships" id="269" r:id="Rde8ecd66d4f1490e"/>
    <p:sldId xmlns:r="http://schemas.openxmlformats.org/officeDocument/2006/relationships" id="270" r:id="R472c8ba14c134994"/>
    <p:sldId xmlns:r="http://schemas.openxmlformats.org/officeDocument/2006/relationships" id="271" r:id="R657aadb8737a45b0"/>
    <p:sldId xmlns:r="http://schemas.openxmlformats.org/officeDocument/2006/relationships" id="272" r:id="R490b2835c0e149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fb66a07184aa2" /><Relationship Type="http://schemas.openxmlformats.org/officeDocument/2006/relationships/slideMaster" Target="/ppt/slideMasters/slideMaster1.xml" Id="Rc7c68e3ea7234155" /><Relationship Type="http://schemas.openxmlformats.org/officeDocument/2006/relationships/notesMaster" Target="/ppt/notesMasters/notesMaster1.xml" Id="R83475a42df924fa9" /><Relationship Type="http://schemas.openxmlformats.org/officeDocument/2006/relationships/presProps" Target="/ppt/presProps.xml" Id="Rdaf93ef44cba4c3c" /><Relationship Type="http://schemas.openxmlformats.org/officeDocument/2006/relationships/tableStyles" Target="/ppt/tableStyles.xml" Id="Rec9c40fa35ff4880" /><Relationship Type="http://schemas.openxmlformats.org/officeDocument/2006/relationships/slide" Target="/ppt/slides/slide1.xml" Id="Rc2e4b3b7e35d4b47" /><Relationship Type="http://schemas.openxmlformats.org/officeDocument/2006/relationships/slide" Target="/ppt/slides/slide2.xml" Id="R362dab33afbd4088" /><Relationship Type="http://schemas.openxmlformats.org/officeDocument/2006/relationships/slide" Target="/ppt/slides/slide3.xml" Id="R1b68d59f5a644e43" /><Relationship Type="http://schemas.openxmlformats.org/officeDocument/2006/relationships/slide" Target="/ppt/slides/slide4.xml" Id="R3d6791dc0cb046f6" /><Relationship Type="http://schemas.openxmlformats.org/officeDocument/2006/relationships/slide" Target="/ppt/slides/slide5.xml" Id="Rd117c910411242c4" /><Relationship Type="http://schemas.openxmlformats.org/officeDocument/2006/relationships/slide" Target="/ppt/slides/slide6.xml" Id="R630ff0e4ab304a68" /><Relationship Type="http://schemas.openxmlformats.org/officeDocument/2006/relationships/slide" Target="/ppt/slides/slide7.xml" Id="R2050ad9efbca4258" /><Relationship Type="http://schemas.openxmlformats.org/officeDocument/2006/relationships/slide" Target="/ppt/slides/slide8.xml" Id="R495357ead3504d17" /><Relationship Type="http://schemas.openxmlformats.org/officeDocument/2006/relationships/slide" Target="/ppt/slides/slide9.xml" Id="R24c878d9022f44d0" /><Relationship Type="http://schemas.openxmlformats.org/officeDocument/2006/relationships/slide" Target="/ppt/slides/slide10.xml" Id="Re3e58af58e664d09" /><Relationship Type="http://schemas.openxmlformats.org/officeDocument/2006/relationships/slide" Target="/ppt/slides/slide11.xml" Id="R366c390cd58b43b8" /><Relationship Type="http://schemas.openxmlformats.org/officeDocument/2006/relationships/slide" Target="/ppt/slides/slide12.xml" Id="R09048c62ea044ebc" /><Relationship Type="http://schemas.openxmlformats.org/officeDocument/2006/relationships/slide" Target="/ppt/slides/slide13.xml" Id="R77497a19f4ad4d6c" /><Relationship Type="http://schemas.openxmlformats.org/officeDocument/2006/relationships/slide" Target="/ppt/slides/slide14.xml" Id="Rde8ecd66d4f1490e" /><Relationship Type="http://schemas.openxmlformats.org/officeDocument/2006/relationships/slide" Target="/ppt/slides/slide15.xml" Id="R472c8ba14c134994" /><Relationship Type="http://schemas.openxmlformats.org/officeDocument/2006/relationships/slide" Target="/ppt/slides/slide16.xml" Id="R657aadb8737a45b0" /><Relationship Type="http://schemas.openxmlformats.org/officeDocument/2006/relationships/slide" Target="/ppt/slides/slide17.xml" Id="R490b2835c0e149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5e07acf444d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dffd89b585415b" /><Relationship Type="http://schemas.openxmlformats.org/officeDocument/2006/relationships/notesMaster" Target="/ppt/notesMasters/notesMaster1.xml" Id="R46de08d8b875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f1675784d4709" /><Relationship Type="http://schemas.openxmlformats.org/officeDocument/2006/relationships/notesMaster" Target="/ppt/notesMasters/notesMaster1.xml" Id="Rc24d5f040330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2dcd009134b55" /><Relationship Type="http://schemas.openxmlformats.org/officeDocument/2006/relationships/notesMaster" Target="/ppt/notesMasters/notesMaster1.xml" Id="R9a3cfb8c2fdf40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195c83ce5f4d72" /><Relationship Type="http://schemas.openxmlformats.org/officeDocument/2006/relationships/notesMaster" Target="/ppt/notesMasters/notesMaster1.xml" Id="Rd7d0f73effb94f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4804772efd463a" /><Relationship Type="http://schemas.openxmlformats.org/officeDocument/2006/relationships/notesMaster" Target="/ppt/notesMasters/notesMaster1.xml" Id="R74e6e7840316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f8030cfb74034" /><Relationship Type="http://schemas.openxmlformats.org/officeDocument/2006/relationships/notesMaster" Target="/ppt/notesMasters/notesMaster1.xml" Id="R5fb1753d3905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c0083149bf4728" /><Relationship Type="http://schemas.openxmlformats.org/officeDocument/2006/relationships/notesMaster" Target="/ppt/notesMasters/notesMaster1.xml" Id="R3566d513fbfc45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f275f9cf74f70" /><Relationship Type="http://schemas.openxmlformats.org/officeDocument/2006/relationships/notesMaster" Target="/ppt/notesMasters/notesMaster1.xml" Id="R23954f43382640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89a4b5f78941e4" /><Relationship Type="http://schemas.openxmlformats.org/officeDocument/2006/relationships/notesMaster" Target="/ppt/notesMasters/notesMaster1.xml" Id="Rae4306f2a6bc49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abb64d67ed42d6" /><Relationship Type="http://schemas.openxmlformats.org/officeDocument/2006/relationships/notesMaster" Target="/ppt/notesMasters/notesMaster1.xml" Id="R668fd2a14bd34a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92c8c82a2d44ef" /><Relationship Type="http://schemas.openxmlformats.org/officeDocument/2006/relationships/notesMaster" Target="/ppt/notesMasters/notesMaster1.xml" Id="R1127f611c5da48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fa68bc866940f3" /><Relationship Type="http://schemas.openxmlformats.org/officeDocument/2006/relationships/notesMaster" Target="/ppt/notesMasters/notesMaster1.xml" Id="R6c670035f8c147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8e9e3b9cfd4c28" /><Relationship Type="http://schemas.openxmlformats.org/officeDocument/2006/relationships/notesMaster" Target="/ppt/notesMasters/notesMaster1.xml" Id="R388f5e6c43ef49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ca5bee2a91425b" /><Relationship Type="http://schemas.openxmlformats.org/officeDocument/2006/relationships/notesMaster" Target="/ppt/notesMasters/notesMaster1.xml" Id="Rc049aebd25124f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a8a5f9a4b24c50" /><Relationship Type="http://schemas.openxmlformats.org/officeDocument/2006/relationships/notesMaster" Target="/ppt/notesMasters/notesMaster1.xml" Id="R035e0c2a05ab42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c9a5367fda42b0" /><Relationship Type="http://schemas.openxmlformats.org/officeDocument/2006/relationships/notesMaster" Target="/ppt/notesMasters/notesMaster1.xml" Id="R8324281f84fe41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cabd2c76fa4608" /><Relationship Type="http://schemas.openxmlformats.org/officeDocument/2006/relationships/notesMaster" Target="/ppt/notesMasters/notesMaster1.xml" Id="Rc9f4bbeed14547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今天汇报的论文是 Channel Deduction，发表于2025年的IEEE JSAC。它研究的是如何用较少的当前测量，获得当前完整信道。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SI就是信道状态信息。这里可以把它理解成一张表：每一行对应一根天线，每一列对应一个子载波，表里的每个数表示这条无线链路的幅度和相位。论文主实验需要恢复一张32行、32列的信道表，也就是1024个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者的办法是同时使用两类信息：过去已经获得的完整信道，以及当前只测到的一小部分信道。过去提供参考，当前测量帮助更新，最终输出当前完整CSI。下面先解释为什么要把这两类信息结合起来，再按数据流讲清楚网络怎样实现，最后看实验是否支持这一思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这篇论文的核心观察是：过去不能完全决定现在，但过去可以减少我们当前还需要测量的信息。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用户之前一直向前走，下一步可能继续向前，也可能转弯或者停下来。只看历史，我们不知道究竟发生了哪一种变化，因此单纯依赖历史预测，可能把当前的幅度和相位猜错。反过来，如果只看当前少量测量，比如4乘4的信道子矩阵，我们只有16个复数，要恢复1024个复数，信息也可能不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这两类信息可以互补。相邻时隙的传播环境通常没有完全改变，历史完整信道里仍有许多可参考的结构。当前少量测量则告诉我们，用户现在的状态和过去有什么不同。作者因此把历史信道和当前部分信道一起输入网络，让网络学习重建当前完整信道。页面上的公式表达的就是这个任务：前面一串矩阵是历史，最后的小矩阵是当前观测，输出是当前完整信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这里的目标是恢复当前时隙的CSI。接下来我们从当前的小矩阵出发，顺着网络走一遍。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这一页对应论文的图3，展示的是整个网络的总流程。先看左边的当前输入。以4乘4的观测为例，我们只知道4根天线、4个子载波上的信道。每个值都有实部和虚部，所以网络里写成4乘4乘2。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叫初步映射，用第一个CMixer。它根据天线之间和子载波之间的相关性，把这个小矩阵扩展成32乘32乘2的初步结果。这样它就和历史完整信道的尺寸一样了。但是尺寸完整不等于数值准确，这一步还没有使用历史，只是先形成对当前完整信道的初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过去与现在的信息交互。上面的历史完整CSI在这里进入网络，与第一步的当前结果一起处理。这个模块学习从历史中提取有用信息，并根据当前观测更新这些信息。它有两种实现：用LSTM按顺序积累，就是RCDNet；用注意力相互查询，就是ACDNet。后面会分别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第三步叫细化表示，用第二个CMixer。它把融合后的结果再按空间和频率关系整理一遍，得到最终的当前完整CSI。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全流程可以概括为：当前小观测先形成初步完整结果，再与历史融合，最后细化输出。历史是在中间进入的，不经过前面的初步映射。下一页的图4只是在解释CMixer内部怎么工作，也就是第一步和第三步用到的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看图4。图3是整个网络，图4是其中CMixer模块的内部结构。整个网络中有两个CMixer，它们结构形式相同，但各自训练、完成不同任务：前面的负责把当前小矩阵扩展到完整尺寸，后面的负责把融合结果整理成最终信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图4右半边，从下往上读。输入先经过全连接映射，然后经过若干层CMixer，最后再经过全连接映射得到输出。全连接层可以理解成一个学习到的组合器：它根据输入的各个数，计算出一组新的数。模块前后的映射负责调整天线和子载波的尺寸。论文里两个CMixer都包含3个CMixer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左半边，它展开了其中一层。首先是空间混合。对于同一个子载波，网络把不同天线的响应一起处理，学习天线之间的关系。然后交换数据的排列方式，再做频率混合。对于同一根天线，网络把不同子载波的响应一起处理，学习频率之间的关系。这种交换维度的操作只是在重新排列数据，没有增加新的测量。图中的MLP是多层感知机，可以理解成由全连接层组成的小网络。Layer Norm是归一化，用来帮助网络稳定地计算和训练。旁边绕过混合模块的连线是残差连接，用来保留原有信息。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所以CMixer的作用，就是交替利用天线间和子载波间的关系来组织信道。它本身不负责读取历史。历史与当前怎么融合，由图3中间的交互模块完成。下面先看LSTM的实现。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RCDNet用LSTM实现刚才总流程里的第二步，也就是历史与当前的融合。LSTM是一种带记忆的序列网络，它每读入一项数据，就用这一项更新已有的记忆。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图5底部。左边是过去若干个完整信道，右边是当前小观测经过第一个CMixer后得到的初步完整结果。这些矩阵现在都是32乘32乘2。网络先把每个矩阵排成一条2048维的向量，再用同一个全连接层压缩成512维。这里的512维表示，是网络学习出来的一组特征，用于保留有用信息并降低后续计算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着，历史特征按时间顺序进入两层LSTM。最早的历史先进入，最新的历史随后进入，当前特征最后进入。LSTM沿着这个顺序积累历史信息，读到当前项时，再用当前信息更新记忆。融合就发生在这个记忆更新过程中，而不是先生成一个预测结果，再与当前估计按固定比例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最后，网络取处理完当前项的LSTM输出，把512维恢复成2048维，再排回32乘32乘2的矩阵。这个矩阵送进第二个CMixer，细化为最终完整CSI。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因此，RCDNet的整体顺序是：当前先映射，历史和当前各自压缩，LSTM按时间融合，恢复矩阵，最后细化。它的特点是逐步积累信息。另一种ACDNet则允许当前特征直接查询各个历史特征。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ACDNet也是在实现总流程中的第二步，前后两个CMixer与RCDNet相同，变化的是中间的融合方式。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同样先把每个历史矩阵和当前初步结果压缩成512维。这样，一个时隙就对应一条512维特征，在Transformer里叫一个token。为了区分来源，网络给所有历史特征加上同一种历史标记，给当前特征加上另一种当前标记。这些标记也是训练得到的。本文没有给每个历史时刻单独加不同的位置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，这些特征一起进入6层Transformer编码器。它通过自注意力，让不同特征相互比较，判断哪些信息更相关，再从相关项中补充信息。当前特征可以直接参考较早的历史，历史特征也会与其他项交互，不必像LSTM那样逐项传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处理完成后，网络只取对应当前项的输出，把它恢复成完整矩阵，再送进第二个CMixer，得到最终CSI。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解释了它为什么可能在准静态条件下表现更好：用户变化较小时，有些历史里的细节仍然与当前很接近，注意力可以直接找到这些参考。而输入受污染时，这种对细节的敏感性也可能引入错误信息。后面我们会用历史数量和扰动实验来看两种网络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前面讲的是网络如何计算，这一页说明它如何训练，以及在通信过程中如何持续运行。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时，作者需要完整CSI序列。把序列最后一个完整信道作为正确答案，前面的信道作为历史输入，再从最后一个信道中抽出少数天线和子载波，构成当前部分输入。网络输出完整当前CSI，再与正确答案比较。损失函数是均方误差，也就是把预测与真值的差平方后求平均。前面的映射、中间的融合和最后的细化一起训练，让整个网络共同减少重建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作者还会在一个短期局部序列中重排和抽取样本，允许重复，构造更多移动模式的训练数据。这依赖于相邻位置的信道仍有可参考的信息。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使用时，用户刚接入系统，先用较密集的导频获得若干个完整信道，建立历史窗口。随后每个时隙只获取当前部分CSI，再与历史一起输入网络。得到当前完整结果后，把这个结果放进历史窗口，并去掉最旧的一项，供下一时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因此，持续运行时的历史会逐渐变成网络自己的估计。如果这些估计有误差，误差就可能传到后面。每一步仍然引入新的当前观测，正是为了校准这种误差。下面看实验是否验证了这个作用。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实验条件和基线说清楚。主实验使用DeepMIMO的O1户外射线追踪场景，频率是3.5GHz，带宽40MHz。基站使用32根天线，信道包含32个子载波，目标就是恢复32乘32的完整CSI。训练和测试取自同一个场景的不同区域，测试分为准静态和移动两类，各有两万条序列，主要使用16个历史时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个基线是CMixer估计，它只使用当前部分CSI，不使用历史。与它比较，可以看在同样的当前测量尺寸下，加入历史是否有帮助。第二个基线是LSTM预测，它只使用历史，不使用当前测量。与它比较，可以看少量新观测是否能补上历史无法确定的变化。RCDNet和ACDNet同时使用两类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实验采用两个指标。NMSE表示重建误差相对于真信道能量的大小，越低越好。相关系数ρ表示每个子载波上，估计信道向量与真信道向量的方向有多接近，越接近1越好。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了后面的专门扰动实验，已知CSI都假设理想。各方法使用相同训练设置，但输入信息和模型大小并不相同。因此，这里的比较主要检验两类信息是否互补，还不能单独证明某一种融合架构优于所有其他融合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这张图先看颜色，再看方法。蓝色、绿色和橙色分别表示当前已知2乘2、4乘4和6乘6的信道，灰色表示预测方法没有当前观测。纵轴是NMSE，使用对数刻度，柱子越低越好。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先比较蓝色柱子。两个CDNet只用2乘2的当前观测，就明显优于同样观测尺寸的CMixer估计。这说明当前只有4个复数时，单靠当前很难恢复完整信道，而历史能够提供大量补充信息。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纯历史预测。它在移动情况下明显变差，因为用户的下一步不能完全由历史确定。加入很少的当前观测后，CDNet能修正这种不确定性，论文报告在移动情况下，相对纯预测的NMSE增益最高约16dB。当前测量增加时，各方法都改善，而历史的相对优势通常缩小，因为当前本身已经提供更多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摘要中的88.9%也可以在这组配置里理解。CMixer使用6乘6，也就是36个当前系数时，相关系数是0.9797。RCDNet仅用2乘2，也就是4个当前系数，准静态和移动下分别达到0.9886和0.9869。当前系数数量从36降到4，减少了88.9%。这里比较的是当前系数数量，没有计入初始化和其他系统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这张图说明整套方案有效。下一张图进一步改变历史数量，看看收益是否真的来自历史。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这项实验固定当前4乘4观测，只改变历史数量。横轴从没有历史，到1个、2个，再到16个历史信道。纵轴仍然是NMSE，越低越好。灰色CMixer估计线保持不变，因为它不使用历史。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历史时，两个CDNet并没有优于CMixer。但是只加入一个历史信道，误差就明显下降，论文报告相对估计基线超过7dB的改善。这说明历史确实提供了有用信息。第一条历史包含附近传播环境的完整参考，所以收益很大。后面继续加历史时，许多信息彼此重复，更远时刻的细节也未必适合当前，因此收益逐渐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再看两种网络。历史较少时，LSTM只需要经过少数几步，能够较充分地积累信息。历史较多时，准静态ACDNet表现更好，因为它能够直接访问长序列中的相似参考。移动情况下，两种网络更接近。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所以，历史窗口并不是越长越划算。增加历史会增加存储和计算成本，尤其注意力计算还随序列长度增长。我们需要结合当前观测质量和历史相关性选择窗口。下一页看历史有误差时，网络是否还能正确利用它。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实验分别考察不同的输入损伤。左图让历史和当前部分CSI都受扰，右图只让历史受扰，当前观测保持理想。横轴σ越大，表示输入偏离真值越严重。这里使用逐元素乘性扰动，也就是每个信道值乘上一个以1为均值的随机数，因此横轴不是实际无线链路的SN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图。随着扰动增大，重建误差增加。在较小扰动下，准静态ACDNet保留了细节重建的优势；扰动较大时，RCDNet更稳健。作者的解释是，LSTM逐步积累共同、稳定的信息，更容易弱化不稳定细节，而注意力对细节更敏感，也更容易受到错误参考的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再看右图。估计基线的灰线不变，因为它不用历史，而且当前输入没有受损。两个CDNet在较大范围内仍然明显优于估计基线，说明准确的新观测确实能帮助校准有误历史。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在最右边，σ达到1.28时，CDNet反而比只看当前的估计基线更差。也就是说，历史严重失真时会拖累结果，小规模当前观测并不能纠正任意程度的历史错误。这提示实际系统需要判断历史是否可靠，必要时减少历史权重，或者重新获取完整信道。下一页把网络自己的结果真正回填历史，观察长期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实验先用8个时隙的密集导频获取完整CSI，然后连续运行2024个时隙。后面每个时隙仍然测量4乘4的当前部分CSI，并使用前8个时隙的信道作为历史。当前网络输出会进入下一步的历史输入，所以这里真的存在误差回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每个子图比较两种情况：一种始终使用理想历史，另一种使用先前自己获取的信道。上图是RCDNet，中图是ACDNet，下图是纯预测。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CDNet的两条线很接近，ACDNet也只有较小退化。纯预测即使有理想历史，也会因为不规则移动而波动；使用自己的结果后，误差更严重，因为旧错误会继续影响后续预测。CDNet每一步都有新的当前观测，因此能够不断校准，减弱这种自循环。RCDNet在这项实验里的退化更小，也与前面的扰动结果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读图时要注意，三个子图的纵轴范围不同，不能直接按画面高度比较。更有意义的是看同一个模型两条曲线之间的差距。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这项结果支持在这条模拟轨迹中持续使用少量当前测量。但它不是完全不再测量的预测，也不是任意环境和任意时长的稳定性保证。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测量节省以后，还要看计算成本。在当前4乘4输入下，CMixer估计约需要1757万次浮点运算，LSTM预测约1.70亿次，RCDNet约1.95亿次，ACDNet约3.74亿次。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CDNet是用额外计算换取当前测量的节省。RCDNet比纯LSTM预测增加的计算相对有限，但比当前估计基线大约增加到11倍。ACDNet的计算量更大，约为估计基线的21倍。浮点运算量还不能直接等同于实际延迟，因为不同硬件和网络并行性也会影响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结合前面的结果，准静态、历史较长而且质量较好时，ACDNet通常能保留更多细节。历史较少或输入污染较强时，RCDNet常更稳健，计算量也较低。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实际部署仍需要完整CSI训练数据和密集初始化。主结果来自同一个场景，输入大多假设理想，也没有测量端到端吞吐率。因此还需要在真实测量噪声和执行时延下，判断节省的导频是否能转化为系统净收益。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这篇论文给我的主要启发，是先确定过去能够提供什么，再决定当前还需要测什么。作者固定了当前部分CSI的数量和位置，但这些量也可以成为设计变量。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例如，历史与当前观测比较一致时，是否可以减少探测？两者明显不一致时，是否应该追加测量，或者丢弃失效历史？这与前面两个结果直接相关：历史增加有递减收益，严重污染的历史又可能有害。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波束探测，还需要多做一步建模。波束测量通常得到的是信道的投影或接收功率，而不是直接获得某些天线和子载波上的CSI系数。因此迁移时要重新定义观测与信道的关系，再判断少量测量能否区分当前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最小实验可以固定导频和时延预算，比较纯历史预测、固定当前探测、普通历史与当前融合，以及按历史可信度追加探测的方案。加入转弯或遮挡突变，除了CSI误差，还比较最终执行时刻的波束增益或中断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总结这篇论文，方法的主线就是：当前观测先形成完整表征，在低维特征中与历史融合，再输出完整CSI。实验支持历史参考与每步当前校准的价值，而真正的系统收益还取决于观测质量和计算成本。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用两个补充结果，看平均误差以外的表现。下方的CDF曲线统计所有测试样本的误差分布。横轴是单个样本的NMSE，纵轴表示有多大比例的样本低于这个误差。对于同一个误差阈值，曲线越高，就表示更多样本达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RCDNet和ACDNet的曲线很快接近1，误差主要集中在0.1以内。估计基线有更大的误差尾部，纯预测的尾部更明显。这说明前面的平均性能改善，并不只是少数好样本拉低平均值。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方灰度图展示了一个信道样本。CDNet的条纹结构更接近真值，估计基线丢失了一些细节，预测基线与真值差别更大。这与两种单一信息来源的局限一致。不过这只是一个样本，主要帮助直观理解，整体精度仍应以分布统计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这张图看网络能否顺利训练。横轴是训练轮数，纵轴是测试集上的NMSE。四条线分别对应两个CDNet在准静态和移动情况下的表现。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训练初期误差下降较快，随后逐渐稳定，过程中有一些小幅波动。准静态ACDNet最终更低，与前面精度比较的趋势一致。这说明前面的映射、融合和细化模块能够通过联合训练学到有效的重建函数。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文使用Adam优化器和均方误差损失，批量大小为500，总训练轮数为十万，并使用学习率预热。作者实际采用离线训练。早期下降较快，说明在线微调可能有潜力，但这里没有真正验证在线学习，也没有证明跨场景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最后一个补充实验改变阵列形状。主文使用32根天线的均匀线阵，这里改成8乘4的均匀平面阵，天线总数仍然是32，其他设置保持一致。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方式与主结果相同：颜色对应当前部分CSI的大小，纵轴NMSE越低越好。两个CDNet在当前测量很少时仍然优于估计和预测基线。以2乘2当前输入为例，RCDNet在准静态和移动下的相关系数约为0.9965和0.9961，ACDNet约为0.9995和0.9970，而估计基线约为0.9035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这说明历史与当前融合的优势在另一种阵列配置下仍然存在。不过它展示的是配置扩展，并没有证明在线阵上训练的权重可以直接迁移到平面阵。若要讨论真正的跨硬件或跨场景迁移，还需要进一步实验。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220a44908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a1360d5ba4232" /><Relationship Type="http://schemas.openxmlformats.org/officeDocument/2006/relationships/slideLayout" Target="/ppt/slideLayouts/slideLayout1.xml" Id="Rf38f8dd40076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f8dd40076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1b16be5a8494d" /><Relationship Type="http://schemas.openxmlformats.org/officeDocument/2006/relationships/notesSlide" Target="/ppt/notesSlides/notesSlide1.xml" Id="Rfd319f12d00642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206b2b4c4871" /><Relationship Type="http://schemas.openxmlformats.org/officeDocument/2006/relationships/notesSlide" Target="/ppt/notesSlides/notesSlide2.xml" Id="R100fdae00c954e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a356bb8d44a83" /><Relationship Type="http://schemas.openxmlformats.org/officeDocument/2006/relationships/notesSlide" Target="/ppt/notesSlides/notesSlide3.xml" Id="R241bf89ede6d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9732a84ff4a59" /><Relationship Type="http://schemas.openxmlformats.org/officeDocument/2006/relationships/image" Target="/ppt/media/image.png" Id="R7840ce0fe3cd4265" /><Relationship Type="http://schemas.openxmlformats.org/officeDocument/2006/relationships/notesSlide" Target="/ppt/notesSlides/notesSlide4.xml" Id="R54311eb0a88a46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17708b10e415c" /><Relationship Type="http://schemas.openxmlformats.org/officeDocument/2006/relationships/image" Target="/ppt/media/image2.png" Id="Rc747254ad8b149f9" /><Relationship Type="http://schemas.openxmlformats.org/officeDocument/2006/relationships/notesSlide" Target="/ppt/notesSlides/notesSlide5.xml" Id="R84de280784da4d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b88903c644414" /><Relationship Type="http://schemas.openxmlformats.org/officeDocument/2006/relationships/image" Target="/ppt/media/image3.png" Id="Re58d74cd7763437b" /><Relationship Type="http://schemas.openxmlformats.org/officeDocument/2006/relationships/notesSlide" Target="/ppt/notesSlides/notesSlide6.xml" Id="R9e57d28192224a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bcf1b561b4840" /><Relationship Type="http://schemas.openxmlformats.org/officeDocument/2006/relationships/notesSlide" Target="/ppt/notesSlides/notesSlide7.xml" Id="Rbecaa1c04e0d41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ba407f5b346cb" /><Relationship Type="http://schemas.openxmlformats.org/officeDocument/2006/relationships/notesSlide" Target="/ppt/notesSlides/notesSlide8.xml" Id="Ra4da9355de1749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0518ddb3540ac" /><Relationship Type="http://schemas.openxmlformats.org/officeDocument/2006/relationships/image" Target="/ppt/media/image4.png" Id="R92949ddcafdb416b" /><Relationship Type="http://schemas.openxmlformats.org/officeDocument/2006/relationships/notesSlide" Target="/ppt/notesSlides/notesSlide9.xml" Id="R94f38ac9a6c247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4c4410ea347b7" /><Relationship Type="http://schemas.openxmlformats.org/officeDocument/2006/relationships/image" Target="/ppt/media/image5.png" Id="R3ab9055c431c4183" /><Relationship Type="http://schemas.openxmlformats.org/officeDocument/2006/relationships/notesSlide" Target="/ppt/notesSlides/notesSlide10.xml" Id="Rc941daeefe5340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1a478e6724fb1" /><Relationship Type="http://schemas.openxmlformats.org/officeDocument/2006/relationships/image" Target="/ppt/media/image6.png" Id="Rc8835cad38934402" /><Relationship Type="http://schemas.openxmlformats.org/officeDocument/2006/relationships/image" Target="/ppt/media/image7.png" Id="Red8d0dd703fc404e" /><Relationship Type="http://schemas.openxmlformats.org/officeDocument/2006/relationships/notesSlide" Target="/ppt/notesSlides/notesSlide11.xml" Id="R4cfb67d593074a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804c1e1a849a3" /><Relationship Type="http://schemas.openxmlformats.org/officeDocument/2006/relationships/image" Target="/ppt/media/image8.png" Id="R5c7713f235d34772" /><Relationship Type="http://schemas.openxmlformats.org/officeDocument/2006/relationships/notesSlide" Target="/ppt/notesSlides/notesSlide12.xml" Id="Rafc2500e6f6644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8f79b297346ad" /><Relationship Type="http://schemas.openxmlformats.org/officeDocument/2006/relationships/notesSlide" Target="/ppt/notesSlides/notesSlide13.xml" Id="R12b384882c1f4a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46f8a89d14c90" /><Relationship Type="http://schemas.openxmlformats.org/officeDocument/2006/relationships/notesSlide" Target="/ppt/notesSlides/notesSlide14.xml" Id="R3a90be0a38eb44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87a1831a94942" /><Relationship Type="http://schemas.openxmlformats.org/officeDocument/2006/relationships/image" Target="/ppt/media/image9.png" Id="R2c99677f819b4e9e" /><Relationship Type="http://schemas.openxmlformats.org/officeDocument/2006/relationships/image" Target="/ppt/media/image10.png" Id="R4b6ff5357d164644" /><Relationship Type="http://schemas.openxmlformats.org/officeDocument/2006/relationships/notesSlide" Target="/ppt/notesSlides/notesSlide15.xml" Id="Rfb9ae6a997524a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d8521d1c945f8" /><Relationship Type="http://schemas.openxmlformats.org/officeDocument/2006/relationships/image" Target="/ppt/media/image11.png" Id="R53daf2953e894a85" /><Relationship Type="http://schemas.openxmlformats.org/officeDocument/2006/relationships/notesSlide" Target="/ppt/notesSlides/notesSlide16.xml" Id="Rf389a3b6c11d41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91c6d373f4429" /><Relationship Type="http://schemas.openxmlformats.org/officeDocument/2006/relationships/image" Target="/ppt/media/image12.png" Id="R36cdb87dd0704811" /><Relationship Type="http://schemas.openxmlformats.org/officeDocument/2006/relationships/notesSlide" Target="/ppt/notesSlides/notesSlide17.xml" Id="Rafeda2a7cbaa47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nnel Deduction">
            <a:extLst xmlns:a="http://schemas.openxmlformats.org/drawingml/2006/main">
              <a:ext uri="{FF2B5EF4-FFF2-40B4-BE49-F238E27FC236}">
                <a16:creationId xmlns:a16="http://schemas.microsoft.com/office/drawing/2014/main" id="{A557A6D6-4648-4870-8E86-EB0E74B1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76B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6B91"/>
                </a:solidFill>
                <a:latin typeface="Noto Sans CJK SC"/>
                <a:ea typeface="Noto Sans CJK SC"/>
                <a:cs typeface="Noto Sans CJK SC"/>
              </a:rPr>
              <a:t>Channel Deduction</a:t>
            </a:r>
          </a:p>
        </p:txBody>
      </p:sp>
      <p:sp>
        <p:nvSpPr>
          <p:cNvPr id="2" name="用少量当前测量，校准过时信道">
            <a:extLst xmlns:a="http://schemas.openxmlformats.org/drawingml/2006/main">
              <a:ext uri="{FF2B5EF4-FFF2-40B4-BE49-F238E27FC236}">
                <a16:creationId xmlns:a16="http://schemas.microsoft.com/office/drawing/2014/main" id="{7DC2BF83-65CD-4DFE-9DAD-D1049090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172B3A"/>
                </a:solidFill>
                <a:latin typeface="Noto Sans CJK SC"/>
                <a:ea typeface="Noto Sans CJK SC"/>
                <a:cs typeface="Noto Sans CJK SC"/>
              </a:rPr>
              <a:t>用少量当前测量，校准过时信道</a:t>
            </a:r>
          </a:p>
        </p:txBody>
      </p:sp>
      <p:sp>
        <p:nvSpPr>
          <p:cNvPr id="3" name="Channel Deduction: A New">
            <a:extLst xmlns:a="http://schemas.openxmlformats.org/drawingml/2006/main">
              <a:ext uri="{FF2B5EF4-FFF2-40B4-BE49-F238E27FC236}">
                <a16:creationId xmlns:a16="http://schemas.microsoft.com/office/drawing/2014/main" id="{096BC78D-818F-44CF-8FBF-A0D34CA6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rPr>
              <a:t>Channel Deduction: A New Learning Framework to Acquire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rPr>
              <a:t>Channel From Outdated Samples and Coarse Estimate</a:t>
            </a:r>
          </a:p>
        </p:txBody>
      </p:sp>
      <p:sp>
        <p:nvSpPr>
          <p:cNvPr id="4" name="Zirui Chen 等 · IEEE JSAC">
            <a:extLst xmlns:a="http://schemas.openxmlformats.org/drawingml/2006/main">
              <a:ext uri="{FF2B5EF4-FFF2-40B4-BE49-F238E27FC236}">
                <a16:creationId xmlns:a16="http://schemas.microsoft.com/office/drawing/2014/main" id="{16A5231F-8FB5-409B-A942-8F53D901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rPr>
              <a:t>Zirui Chen 等 · IEEE JSAC 43(3), 944–958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6745-024A-4B36-B62D-CACDFCE6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BD8DE"/>
            </a:solidFill>
          </a:ln>
        </p:spPr>
      </p:sp>
      <p:sp>
        <p:nvSpPr>
          <p:cNvPr id="6" name="输入">
            <a:extLst xmlns:a="http://schemas.openxmlformats.org/drawingml/2006/main">
              <a:ext uri="{FF2B5EF4-FFF2-40B4-BE49-F238E27FC236}">
                <a16:creationId xmlns:a16="http://schemas.microsoft.com/office/drawing/2014/main" id="{CAEE8DD9-06A8-4DE9-8A1B-5F73879D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7" name="历史完整 CSI  +  当前稀疏 CSI">
            <a:extLst xmlns:a="http://schemas.openxmlformats.org/drawingml/2006/main">
              <a:ext uri="{FF2B5EF4-FFF2-40B4-BE49-F238E27FC236}">
                <a16:creationId xmlns:a16="http://schemas.microsoft.com/office/drawing/2014/main" id="{C167D372-B22F-4DD9-B571-9EF06991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43475"/>
            <a:ext cx="7762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2B3A"/>
                </a:solidFill>
                <a:latin typeface="Noto Sans CJK SC"/>
                <a:ea typeface="Noto Sans CJK SC"/>
                <a:cs typeface="Noto Sans CJK SC"/>
              </a:rPr>
              <a:t>历史完整 CSI  +  当前稀疏 CSI</a:t>
            </a:r>
          </a:p>
        </p:txBody>
      </p:sp>
      <p:sp>
        <p:nvSpPr>
          <p:cNvPr id="8" name="目标">
            <a:extLst xmlns:a="http://schemas.openxmlformats.org/drawingml/2006/main">
              <a:ext uri="{FF2B5EF4-FFF2-40B4-BE49-F238E27FC236}">
                <a16:creationId xmlns:a16="http://schemas.microsoft.com/office/drawing/2014/main" id="{5AA9B0E5-2E11-4212-A8D0-E33ED468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rPr>
              <a:t>目标</a:t>
            </a:r>
          </a:p>
        </p:txBody>
      </p:sp>
      <p:sp>
        <p:nvSpPr>
          <p:cNvPr id="9" name="重建当前时隙的完整信道">
            <a:extLst xmlns:a="http://schemas.openxmlformats.org/drawingml/2006/main">
              <a:ext uri="{FF2B5EF4-FFF2-40B4-BE49-F238E27FC236}">
                <a16:creationId xmlns:a16="http://schemas.microsoft.com/office/drawing/2014/main" id="{8EB09299-1CCC-46A5-AB4E-DE4E06E9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53075"/>
            <a:ext cx="8191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D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47D85"/>
                </a:solidFill>
                <a:latin typeface="Noto Sans CJK SC"/>
                <a:ea typeface="Noto Sans CJK SC"/>
                <a:cs typeface="Noto Sans CJK SC"/>
              </a:rPr>
              <a:t>重建当前时隙的完整信道</a:t>
            </a:r>
          </a:p>
        </p:txBody>
      </p:sp>
      <p:sp>
        <p:nvSpPr>
          <p:cNvPr id="10" name="CSI：信道状态信息，描述各天线、各子载波上的复">
            <a:extLst xmlns:a="http://schemas.openxmlformats.org/drawingml/2006/main">
              <a:ext uri="{FF2B5EF4-FFF2-40B4-BE49-F238E27FC236}">
                <a16:creationId xmlns:a16="http://schemas.microsoft.com/office/drawing/2014/main" id="{FC6F1304-52B0-4068-86DC-C19C95C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6636D"/>
                </a:solidFill>
                <a:latin typeface="Noto Sans CJK SC"/>
                <a:ea typeface="Noto Sans CJK SC"/>
                <a:cs typeface="Noto Sans CJK SC"/>
              </a:rPr>
              <a:t>CSI：信道状态信息，描述各天线、各子载波上的复数响应</a:t>
            </a:r>
          </a:p>
        </p:txBody>
      </p:sp>
    </p:spTree>
    <p:extLst>
      <p:ext uri="{BB962C8B-B14F-4D97-AF65-F5344CB8AC3E}">
        <p14:creationId xmlns:p14="http://schemas.microsoft.com/office/powerpoint/2010/main" val="716051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1C528-6C80-4957-AE2C-F414B24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Spark：过去不能决定现在，但能减少当前要测的信息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9C494-D635-4F7E-B0CB-6DEB1F61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F99DA-A750-4AC3-AAAB-DDE70927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p3–5，§I-C / §III-A，式(5)–(7)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96CBA-AA77-4D56-A481-AF77075F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73421-7833-4820-9C25-BD6E6B7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同一段历史，下一步可能前进、转弯或停留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08FBF-BBD2-42BA-92D6-0C0BB197A57C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2105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4114800"/>
              </a:tblGrid>
              <a:tr h="701675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信息来源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它能提供什么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缺少什么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</a:tr>
              <a:tr h="701675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仅当前部分 CSI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当前已测位置的真实状态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小子矩阵难以恢复完整多径结构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仅历史完整 CSI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局部传播环境的可参考特征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未知运动、相位变化与误差校准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E36BC-A527-44B2-BD2E-9208DC4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Ĥₜ = g_cd(Hₜ₋ₙ, …, Hₜ₋₁, Hₜ⁰)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AA672-809F-4761-A328-59C789F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完整目标 32×32    当前示例 4×4    主测试历史 n =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23950-ACDC-457C-A1F6-380477F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历史提供参考，当前补测更新状态，网络联合重建</a:t>
            </a:r>
          </a:p>
        </p:txBody>
      </p:sp>
    </p:spTree>
    <p:extLst>
      <p:ext uri="{BB962C8B-B14F-4D97-AF65-F5344CB8AC3E}">
        <p14:creationId xmlns:p14="http://schemas.microsoft.com/office/powerpoint/2010/main" val="1230827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2C4EF-1B00-4FC6-A04F-A843E978F76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162675" y="26479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7395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22054-BED9-4F9C-9217-83F829B8C98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801225" y="37671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7395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22A31-A14F-4EB1-A9AB-712AC419D7A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58050" y="37671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7395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27ED0-4CD4-4338-B805-469EC5323D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14875" y="37671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7395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E21D1-880F-4A98-B810-A3438DC7CD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81225" y="3767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7395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02618-DBB5-4FDB-90D6-5BBE369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Fig.3 总流程：当前先映射，与历史融合，再细化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6438F-F55B-43F7-AEC6-E3FB882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089B-1652-40AA-B544-38081AF9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依据 PDF p5 Fig.3 重绘；两端用 CMixer，中间用 LSTM 或 Transformer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C1BB-2DB7-4744-ABAE-73832ABD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14A24-58E9-4F81-A101-BC65734E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571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1C739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当前部分 CSI</a:t>
            </a:r>
          </a:p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4×4×2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4B38E-F443-4C41-B40E-6710F7E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76600"/>
            <a:ext cx="2190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1C739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① 初步映射</a:t>
            </a:r>
          </a:p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第一个 CMixer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AE41E-1DD9-47B6-A5A4-8FBB495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2190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1C739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② 信息融合</a:t>
            </a:r>
          </a:p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LSTM / 注意力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BF145-1617-4D0F-92A2-FB5D38A3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76600"/>
            <a:ext cx="2190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1C739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③ 细化表示</a:t>
            </a:r>
          </a:p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第二个 CMixer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0AF3-7B94-4406-ABB5-FA7D719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76600"/>
            <a:ext cx="142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13838C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当前完整 CSI</a:t>
            </a:r>
          </a:p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32×32×2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21A1B-8E8F-4D03-99C8-2D2F4DB8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1C739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历史完整 CSI</a:t>
            </a:r>
          </a:p>
          <a:p xmlns:a="http://schemas.openxmlformats.org/drawingml/2006/main">
            <a:pPr algn="ctr">
              <a:def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每项 32×32×2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18A4B-FF6C-4613-B34D-E363A4B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338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32×32×2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BE561-8EB9-4777-9D1F-593E9EA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338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融合后的完整表征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47620-86A8-4BAD-9662-4790F243524E}"/>
              </a:ext>
            </a:extLst>
          </p:cNvPr>
          <p:cNvGraphicFramePr/>
          <p:nvPr/>
        </p:nvGraphicFramePr>
        <p:xfrm>
          <a:off xmlns:a="http://schemas.openxmlformats.org/drawingml/2006/main" x="609600" y="4895850"/>
          <a:ext xmlns:a="http://schemas.openxmlformats.org/drawingml/2006/main" cx="109728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58175"/>
              </a:tblGrid>
              <a:tr h="335756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做什么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</a:tr>
              <a:tr h="335756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初步映射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仅用当前观测形成初步完整结果，方便与历史对齐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② 历史与当前融合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用历史补充信息，再根据当前状态更新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细化表示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整理融合后的空间、频率关系，输出最终 CSI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903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D35F9-6DD7-4ABE-92E6-01552AD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Fig.4 是 CMixer 内部，负责图3的第①和第③步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0E54E-3645-443B-A13E-F145627F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FB40D-96D3-411E-B64F-BD57BB0A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p5–6，Fig.4 / §III-B；两个 CMixer 均含 3 层，参数各自训练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4D1AE-E8B3-469E-AEB4-3D6CCFDF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E6B69-3DE3-47AA-914B-B60198FE7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0ce0fe3cd4265"/>
          <a:stretch xmlns:a="http://schemas.openxmlformats.org/drawingml/2006/main"/>
        </p:blipFill>
        <p:spPr>
          <a:xfrm xmlns:a="http://schemas.openxmlformats.org/drawingml/2006/main">
            <a:off x="742950" y="1581150"/>
            <a:ext cx="4276725" cy="42767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994E1-DB1C-4B74-8EDD-8B39C1C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图3中使用两个 CMixer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B5DB5-4AFA-45DB-AAA9-AD61EB05FEF4}"/>
              </a:ext>
            </a:extLst>
          </p:cNvPr>
          <p:cNvGraphicFramePr/>
          <p:nvPr/>
        </p:nvGraphicFramePr>
        <p:xfrm>
          <a:off xmlns:a="http://schemas.openxmlformats.org/drawingml/2006/main" x="5581650" y="2257425"/>
          <a:ext xmlns:a="http://schemas.openxmlformats.org/drawingml/2006/main" cx="6000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019300"/>
                <a:gridCol w="2028825"/>
              </a:tblGrid>
              <a:tr h="57150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</a:tr>
              <a:tr h="57150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初步映射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当前部分 CSI</a:t>
                      </a:r>
                    </a:p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4×4×2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初步完整表征</a:t>
                      </a:r>
                    </a:p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32×32×2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细化表示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融合后表征</a:t>
                      </a:r>
                    </a:p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32×32×2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最终完整 CSI</a:t>
                      </a:r>
                    </a:p>
                    <a:p>
                      <a:r>
                        <a:rPr sz="165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32×32×2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A64A7-CAE0-4D2B-AE62-846E87CC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433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图4右侧：整个 CMixer 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C5B8C-483A-4A27-B044-745A7442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调整尺寸的映射，3 层 CMixer，再映射输出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F7261-A05F-4E37-B416-A4F65DF4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958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图4左侧：展开一层 CMixer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1B93E-2132-4DA5-8395-6C6F94AE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530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先混合不同天线，再混合不同子载波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EE09C-DB40-4492-B705-01D06A7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CMixer 处理空间与频率关系。历史融合由图3的第②步完成</a:t>
            </a:r>
          </a:p>
        </p:txBody>
      </p:sp>
    </p:spTree>
    <p:extLst>
      <p:ext uri="{BB962C8B-B14F-4D97-AF65-F5344CB8AC3E}">
        <p14:creationId xmlns:p14="http://schemas.microsoft.com/office/powerpoint/2010/main" val="1098239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A115C-8548-4306-ADEB-FFFE600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RCDNet：压缩历史，按顺序与当前表征融合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CE68-8BB2-44D2-9383-066000AD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6A658-2B74-418F-BFE6-9EB346DE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p6–7，Fig.5，§III-C1；示意符号 z、P 为汇报整理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EDDD0-41F4-4132-A4DC-FB1CAB7D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73F5-EE0D-47F8-8BF0-AF8E162E2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7254ad8b149f9"/>
          <a:stretch xmlns:a="http://schemas.openxmlformats.org/drawingml/2006/main"/>
        </p:blipFill>
        <p:spPr>
          <a:xfrm xmlns:a="http://schemas.openxmlformats.org/drawingml/2006/main">
            <a:off x="609600" y="1852919"/>
            <a:ext cx="6238875" cy="297118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BBBCD-C7BC-4DE1-A189-4E83332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24025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每一项都用同一降维接口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2EF48-24B2-4504-8C00-208C85D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812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32×32×2 展平为 2048 维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全连接压缩为 S = 512 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6DF63-8D88-46F2-9A95-100F8C9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9925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当前项最后进入两层 LSTM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A118E-0FF1-4CF2-B998-4337B512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历史按时间积累到隐状态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当前 Pₜ 更新这份记忆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EC0D2-1EDD-4D6E-BF90-63F238CB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95825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只取最后 cell 的输出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0D25B-2139-48C5-B838-A7C4F085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530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512 维恢复为 32×32×2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末端 CMixer 细化完整 CSI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61E8E-530C-4E5A-91BA-1750E0F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zᵢ = FC_down(vec(Hᵢ))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9E768-0B92-426A-953E-63BBF4DA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历史不是显式路径参数，而是学习到的低维表示</a:t>
            </a:r>
          </a:p>
        </p:txBody>
      </p:sp>
    </p:spTree>
    <p:extLst>
      <p:ext uri="{BB962C8B-B14F-4D97-AF65-F5344CB8AC3E}">
        <p14:creationId xmlns:p14="http://schemas.microsoft.com/office/powerpoint/2010/main" val="744959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CB881-14E1-4233-BE5D-51ED224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ACDNet：让当前 token 查询可参考的历史邻域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3DFF5-EA15-4B6D-BA8C-B56AB64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53CA2-0465-4992-90D4-034EDC4E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p7–8，Fig.6，§III-C2；K₃ = 6，S = 512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54F7-29DC-4642-9AA7-D650575F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46D4A-7BE7-4BCA-9EC9-6A0532ED61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d74cd7763437b"/>
          <a:stretch xmlns:a="http://schemas.openxmlformats.org/drawingml/2006/main"/>
        </p:blipFill>
        <p:spPr>
          <a:xfrm xmlns:a="http://schemas.openxmlformats.org/drawingml/2006/main">
            <a:off x="609600" y="1925493"/>
            <a:ext cx="6238875" cy="28736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65078-E3AC-41F9-9A7E-F8961349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33550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同样压缩成 512 维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BD8CC-7586-498E-A8F3-CB5C979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9075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所有历史共享 past embedding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当前使用 present embedding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3BE5C-2066-42E5-A806-01D9F37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19450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6 层自注意力做相互查询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0DBF5-5346-44CA-8D9D-F4206EA3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7665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过去与当前并行交互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从相关 token 补充可用特征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7CA8F-7E32-4CF8-BD8C-C5CC4EDA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05350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读取当前对应的输出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F08AE-DB4F-4745-A478-6C2D51D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6255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恢复完整尺寸后再经 CMixer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不是对全部历史输出求平均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90D66-CCCB-41E0-BDB2-A9B3786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23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历史没有逐时刻的独立位置编码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57A36-8014-4CE9-B528-06165220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准静态时细节更可复用，全局访问常有优势</a:t>
            </a:r>
          </a:p>
        </p:txBody>
      </p:sp>
    </p:spTree>
    <p:extLst>
      <p:ext uri="{BB962C8B-B14F-4D97-AF65-F5344CB8AC3E}">
        <p14:creationId xmlns:p14="http://schemas.microsoft.com/office/powerpoint/2010/main" val="1113924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C5B50-6DF5-45D9-94E1-72F7E34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训练与部署：每一步都有新观测，输出回填历史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305B6-F60D-40F4-B165-4DF9AEE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86600-FF95-416B-9AA0-28D2B048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p8–9，§III-D，式(8)–(9)；Fig.14 使用 8 时隙初始化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BE35E-73F3-4754-B358-6180CAE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A96EB-4903-4358-BDAB-97DD62D98DBB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572000"/>
                <a:gridCol w="4257675"/>
              </a:tblGrid>
              <a:tr h="67056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如何获得输入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监督 / 后续用途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</a:tr>
              <a:tr h="67056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离线训练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完整历史 + 从 Hₜ 抽取的 Hₜ⁰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以完整 Hₜ 为标签，端到端 MSE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数据增强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局部序列重排、抽样、可重复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扩展移动模式，依赖局部相关性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初始化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 n 个时隙获取完整 CSI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建立历史窗口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过去 n 项获取结果 + 当前 Hₜ⁰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重建 Ĥₜ，回填窗口并淘汰最旧项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33A7E-52B6-4DB1-914B-A86100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Loss = mean ‖Hₜ − Ĥₜ‖²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28CFA-2470-46C9-B5D6-14B5766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融合靠联合学习。本文没有强制观测一致性或自动重置规则</a:t>
            </a:r>
          </a:p>
        </p:txBody>
      </p:sp>
    </p:spTree>
    <p:extLst>
      <p:ext uri="{BB962C8B-B14F-4D97-AF65-F5344CB8AC3E}">
        <p14:creationId xmlns:p14="http://schemas.microsoft.com/office/powerpoint/2010/main" val="298043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8328A-3188-4537-BC51-90275AC2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实验协议：两类基线分别检验两种信息缺口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A2F20-816C-4937-85B3-B68CA55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75161-7850-400A-84FB-21CF0A3A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p9–10，Table II–III，§IV-A；NMSE 与 ρ：式(10)–(11)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54FEC-CFAC-4EB4-BBC1-ECEA163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53F3B-21F5-4ED1-B72E-BC285A5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DeepMIMO O1，3.5 GHz / 40 MHz，32×32 CSI，最多 25 条路径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56BF7-C9C5-4E01-8AAB-7FBF4109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同场景区域留出。准静态、移动各 20,000 条测试，历史 n = 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30639-30DC-4776-877B-EE640B7200D4}"/>
              </a:ext>
            </a:extLst>
          </p:cNvPr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9728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476375"/>
                <a:gridCol w="2924175"/>
                <a:gridCol w="3476625"/>
              </a:tblGrid>
              <a:tr h="607219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历史输入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当前部分输入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对照意图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</a:tr>
              <a:tr h="607219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CMixer 估计（8 层）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2×2 / 4×4 / 6×6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当前小观测能否独立重建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LSTM 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历史能否解释未知当前变化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RCDNet / ACDNet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2×2 / 4×4 / 6×6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两类信息能否互补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95D93-4016-497E-8B22-552F0F1D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NMSE 越低越好：完整重建误差        ρ 越高越好：向量方向一致性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9B4DC-2F75-4FC8-8B07-E8C5AFE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除扰动实验，已知 CSI 理想。同训练设置不等于同信息量或同容量</a:t>
            </a:r>
          </a:p>
        </p:txBody>
      </p:sp>
    </p:spTree>
    <p:extLst>
      <p:ext uri="{BB962C8B-B14F-4D97-AF65-F5344CB8AC3E}">
        <p14:creationId xmlns:p14="http://schemas.microsoft.com/office/powerpoint/2010/main" val="212748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BAB68-B2FC-485F-B3A0-4E3EFCDB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小当前预算下，历史融合带来显著重建收益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F0E77-A4E0-4DB2-AF2E-89CA53E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334D8-C79E-4AF9-B145-12DE1E77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p10–11，Fig.8、Table IV，§IV-B1；88.9% 为配置数量对照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FBFC2-C861-421A-9545-54B4AAB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E40C0-4297-459A-8AED-FFDA2058A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49ddcafdb416b"/>
          <a:stretch xmlns:a="http://schemas.openxmlformats.org/drawingml/2006/main"/>
        </p:blipFill>
        <p:spPr>
          <a:xfrm xmlns:a="http://schemas.openxmlformats.org/drawingml/2006/main">
            <a:off x="1512094" y="1504950"/>
            <a:ext cx="9167813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93DCA-3798-4311-9658-A2B9159E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2×2 当前输入：移动情形相对纯预测最高约 16 dB NMSE 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DD25E-D010-4812-ADF4-7088BE6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6×6 CMixer：ρ = 0.9797     2×2 RCDNet：ρ = 0.9886 / 0.9869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62B6-265E-4AAD-B3C0-76429123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当前系数 36 减到 4，减少 88.9%。未计初始化、训练和协议成本</a:t>
            </a:r>
          </a:p>
        </p:txBody>
      </p:sp>
    </p:spTree>
    <p:extLst>
      <p:ext uri="{BB962C8B-B14F-4D97-AF65-F5344CB8AC3E}">
        <p14:creationId xmlns:p14="http://schemas.microsoft.com/office/powerpoint/2010/main" val="952446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56971-A136-4903-AF10-807CBF5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历史数量：第一个样本收益大，继续增加逐渐饱和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870A1-7F36-4D90-892E-278BCCDE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E4EAB-9B7C-4EDE-8D41-18055812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p11–12，Fig.12，§IV-B3；当前部分 CSI 固定 4×4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EBA94-A68B-43E4-AB2A-5A8797AF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B3655-8CE0-4FB2-AF9B-C85A68CB3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9055c431c4183"/>
          <a:stretch xmlns:a="http://schemas.openxmlformats.org/drawingml/2006/main"/>
        </p:blipFill>
        <p:spPr>
          <a:xfrm xmlns:a="http://schemas.openxmlformats.org/drawingml/2006/main">
            <a:off x="825919" y="1638300"/>
            <a:ext cx="5758612" cy="430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45F76-2DE5-46E3-A3C3-4AC09AB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43075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n = 0：并未优于 CMixer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FBD5E-AFF2-454B-88AF-74AB34E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0027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n = 1：相对估计超过 7 dB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历史确实提供额外信息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FF64D-C287-4E8B-8B0D-B185A032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38500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短历史更利于递归积累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AE469-495A-4F26-8472-DE07978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9570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n ≤ 4 时 RCDNet 较有利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序列短，细节不易被遗忘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6EAD7-0CEB-4CC3-BFAF-22C900A9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33925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长历史准静态更利于注意力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9E437-1599-4264-B657-01A4BAEC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911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可直接访问相似邻居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移动情况下差距更小</a:t>
            </a:r>
          </a:p>
        </p:txBody>
      </p:sp>
    </p:spTree>
    <p:extLst>
      <p:ext uri="{BB962C8B-B14F-4D97-AF65-F5344CB8AC3E}">
        <p14:creationId xmlns:p14="http://schemas.microsoft.com/office/powerpoint/2010/main" val="1965492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7515F-0D66-40F3-8834-52F00E82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历史受扰时，当前校准有效，但存在失效点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194EB-37EF-4541-AD5B-3DA92C66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A3505-F950-40E0-BC3A-6BE962DC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p12–13，Fig.13，§IV-B4；乘性 CSI 扰动，不是链路 SNR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55DDC-B463-4CD0-A52A-17537052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AA857-BC32-45D7-9BDD-3BD04547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(a) 历史与当前都受扰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2C6FE-DBCD-4104-8472-D767A8DF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33525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(b) 仅历史受扰，当前理想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0E546-95D6-4E44-9C9B-1E5560AAA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35cad38934402"/>
          <a:stretch xmlns:a="http://schemas.openxmlformats.org/drawingml/2006/main"/>
        </p:blipFill>
        <p:spPr>
          <a:xfrm xmlns:a="http://schemas.openxmlformats.org/drawingml/2006/main">
            <a:off x="1103149" y="1990725"/>
            <a:ext cx="4204028" cy="30384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0EF56-293E-48CE-8943-971807930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d0dd703fc404e"/>
          <a:stretch xmlns:a="http://schemas.openxmlformats.org/drawingml/2006/main"/>
        </p:blipFill>
        <p:spPr>
          <a:xfrm xmlns:a="http://schemas.openxmlformats.org/drawingml/2006/main">
            <a:off x="6767393" y="1990725"/>
            <a:ext cx="4438889" cy="30384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4095B-B01C-4DE8-B086-DAF53C05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H_dis = H ⊙ D，Dᵢⱼ ~ N(1, σ²)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042A4-D88D-43FC-9A95-76289A1D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19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高扰动时 RCDNet 更稳健</a:t>
            </a:r>
          </a:p>
          <a:p xmlns:a="http://schemas.openxmlformats.org/drawingml/2006/main">
            <a: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稳定特征积累可能抑制污染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5444F-D914-40A6-A769-CD7B7333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581650"/>
            <a:ext cx="519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σ = 1.28 时，错误历史可拖累 CDNet</a:t>
            </a:r>
          </a:p>
          <a:p xmlns:a="http://schemas.openxmlformats.org/drawingml/2006/main">
            <a:pPr algn="l">
              <a:def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需要质量判断与回退机制</a:t>
            </a:r>
          </a:p>
        </p:txBody>
      </p:sp>
    </p:spTree>
    <p:extLst>
      <p:ext uri="{BB962C8B-B14F-4D97-AF65-F5344CB8AC3E}">
        <p14:creationId xmlns:p14="http://schemas.microsoft.com/office/powerpoint/2010/main" val="5133395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ACF48-8BFC-4558-9A0A-28EDE40D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回填自己的估计后，连续获取仅出现较小退化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65B15-8AD1-4BD6-870A-9FBEAA94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EDDDD-FB5B-429A-AACF-2BD351AB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p12–13，Fig.14，§IV-B5；原图各子图纵轴范围不同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ACA5-0B56-461B-9A99-500F08D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A5E81-BBE1-40D6-8413-A33B03E78D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713f235d34772"/>
          <a:stretch xmlns:a="http://schemas.openxmlformats.org/drawingml/2006/main"/>
        </p:blipFill>
        <p:spPr>
          <a:xfrm xmlns:a="http://schemas.openxmlformats.org/drawingml/2006/main">
            <a:off x="1451049" y="1552575"/>
            <a:ext cx="4832202" cy="4543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A512F-9EB9-4DE9-B3C1-0A1816AC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04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8 时隙密集初始化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8199-FC89-4C34-8DC3-54B694A8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6217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随后连续 2024 时隙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每步仍观测 4×4 当前 CSI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E40BE-F549-4ED6-B0D8-1779DD0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同一模型先比两条曲线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2E93C-548F-407D-8FA0-0F8706D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理想历史与自身回填历史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CDNet 曲线接近，预测退化大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4C1E3-0D94-499B-B292-2B076EE2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339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新观测限制误差自循环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20DF0-E092-4788-9E72-D29B9D60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9112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RCDNet 退化通常更小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尚无任意长期稳定性保证</a:t>
            </a:r>
          </a:p>
        </p:txBody>
      </p:sp>
    </p:spTree>
    <p:extLst>
      <p:ext uri="{BB962C8B-B14F-4D97-AF65-F5344CB8AC3E}">
        <p14:creationId xmlns:p14="http://schemas.microsoft.com/office/powerpoint/2010/main" val="2112751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78A08-4301-43DE-BFD1-6862518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计算换测量：架构选择取决于历史和观测质量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4F21B-7B75-49B9-A7E4-BF4F908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CE188-C30C-4C20-945B-1F813945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p8–9，Table I / III；p12–13 鲁棒性与连续运行实验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BC2CE-9811-45DF-95FC-EFEAB5B6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D47E2-74C9-4F12-B758-05F658AF8BF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381250"/>
                <a:gridCol w="5810250"/>
              </a:tblGrid>
              <a:tr h="59055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FLOPs / 次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C739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本实验中的特点</a:t>
                      </a:r>
                    </a:p>
                  </a:txBody>
                  <a:tcPr marL="91440" marR="91440" marT="45720" marB="45720" anchor="ctr">
                    <a:solidFill>
                      <a:srgbClr val="EDF4F7"/>
                    </a:solidFill>
                  </a:tcPr>
                </a:tc>
              </a:tr>
              <a:tr h="59055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CMixer 估计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17.57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无需历史，当前测量需求较多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LSTM 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170.03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无当前校准，移动与回填易退化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RCDNet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194.89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短历史、强扰动下常更稳健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ACDNet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373.51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准静态、较长历史下细节更好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2957C-1A30-4C51-9954-682C5970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仍待验证的系统净收益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E3CA-D545-43C5-ADAD-98327EC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完整 CSI 训练数据与密集初始化，真实导频噪声与执行时延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同场景区域留出之外的泛化，等信息量融合基线和净吞吐率</a:t>
            </a:r>
          </a:p>
        </p:txBody>
      </p:sp>
    </p:spTree>
    <p:extLst>
      <p:ext uri="{BB962C8B-B14F-4D97-AF65-F5344CB8AC3E}">
        <p14:creationId xmlns:p14="http://schemas.microsoft.com/office/powerpoint/2010/main" val="17234793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C38CC-D3E8-47C3-B88E-D7FD7401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研究启发：把当前测量预算和历史可信度一起设计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2E714-8789-4787-A396-09CDE5C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AB822-AF9B-44F0-84A7-F0E047FD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研究延伸，非本文已验证结果；依据 Fig.12–14 的收益与失效机制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2CE01-EA3D-4864-88F6-7D283D2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04E53-60A3-40D3-A1CA-7C4024A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可迁移的原则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E9435-6D71-417F-A597-27D9D71B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历史减少未知量，当前探测发现历史解释不了的变化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AD97F-0BE7-40D1-B9A0-D892EAE3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可成为设计变量的量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9B8BD-88D5-4959-8338-2F3E9F76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何时追加探测，测哪些位置，何时丢弃失效历史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40974-2E10-47A4-AF66-89880B1C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最小可证伪实验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1E71C-58AE-4755-A291-AFD57D9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同导频和时延预算下，对比纯历史、固定当前、普通融合与自适应探测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加入转弯 / 遮挡突变，评估执行时刻的增益、SINR 或中断率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24F98-09DF-41EE-8E8C-0BBB519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波束测量是信道投影，迁移前必须重建观测模型</a:t>
            </a:r>
          </a:p>
        </p:txBody>
      </p:sp>
    </p:spTree>
    <p:extLst>
      <p:ext uri="{BB962C8B-B14F-4D97-AF65-F5344CB8AC3E}">
        <p14:creationId xmlns:p14="http://schemas.microsoft.com/office/powerpoint/2010/main" val="17848089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7B8EA-10D9-4B67-87C9-8592DE7B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附录 A：误差分布与可视化补充平均性能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EF063-0190-4EE4-A18B-ABDE076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30E3F-7527-4E76-88AE-52BC9948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p10–11，Fig.9–10，§IV-B1；当前部分 CSI 固定 4×4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5EA80-F657-415B-8336-DAC5D35B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F027E-A536-4C21-B968-E33915C72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9677f819b4e9e"/>
          <a:stretch xmlns:a="http://schemas.openxmlformats.org/drawingml/2006/main"/>
        </p:blipFill>
        <p:spPr>
          <a:xfrm xmlns:a="http://schemas.openxmlformats.org/drawingml/2006/main">
            <a:off x="1153532" y="1504950"/>
            <a:ext cx="9884935" cy="2390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9D64-6F6D-4BCF-BBC9-4BCA68A58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ff5357d164644"/>
          <a:stretch xmlns:a="http://schemas.openxmlformats.org/drawingml/2006/main"/>
        </p:blipFill>
        <p:spPr>
          <a:xfrm xmlns:a="http://schemas.openxmlformats.org/drawingml/2006/main">
            <a:off x="1933923" y="4000500"/>
            <a:ext cx="2923478" cy="2305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99DB7-39A5-4232-815C-BE64463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4867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CDF：比较同一误差阈值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74E9-0F3E-493B-891F-BA5BF79C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05325"/>
            <a:ext cx="4867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曲线越高，达标样本越多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CDNet 误差集中在 0.1 以内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4F27A-72CF-4A30-A22B-12CF3F4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14975"/>
            <a:ext cx="48672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灰度示例支持结构相似</a:t>
            </a:r>
          </a:p>
          <a:p xmlns:a="http://schemas.openxmlformats.org/drawingml/2006/main">
            <a: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单个样本不证明普遍重建精度</a:t>
            </a:r>
          </a:p>
        </p:txBody>
      </p:sp>
    </p:spTree>
    <p:extLst>
      <p:ext uri="{BB962C8B-B14F-4D97-AF65-F5344CB8AC3E}">
        <p14:creationId xmlns:p14="http://schemas.microsoft.com/office/powerpoint/2010/main" val="15114221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7C271-8B4B-4510-AF88-D951608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附录 B：联合训练可收敛，线上微调仍是潜力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2FFA0-29CD-458D-B96B-A54EADEE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04A64-68C5-4A1E-92B5-BCB14BE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p9 Table III，p11 Fig.11，§III-D / §IV-B2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ADFA4-2CD4-4C0F-9E04-95F01A2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49B69-CF16-461E-AE6C-89813E3CE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af2953e894a85"/>
          <a:stretch xmlns:a="http://schemas.openxmlformats.org/drawingml/2006/main"/>
        </p:blipFill>
        <p:spPr>
          <a:xfrm xmlns:a="http://schemas.openxmlformats.org/drawingml/2006/main">
            <a:off x="849538" y="1638300"/>
            <a:ext cx="5711374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6E995-0A66-41D1-AAA1-16B66F51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初期快速下降，随后渐稳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B1418-33AA-4596-A522-5472DD3C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7170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测试 NMSE 随训练改善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准静态 ACDNet 曲线更低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D7B2-FB3B-4C6E-AA86-6FA3BFF7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9925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主要训练设置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153C9-493C-4964-9BB4-1AF72DA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Adam，MSE，batch 500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100,000 epochs，warmup 4,000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421EB-CFC2-46B8-A4EC-6E05424D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05350"/>
            <a:ext cx="439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C7395"/>
                </a:solidFill>
                <a:latin typeface="Noto Sans CJK SC"/>
                <a:ea typeface="Noto Sans CJK SC"/>
                <a:cs typeface="Noto Sans CJK SC"/>
              </a:rPr>
              <a:t>此图支持训练可行性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C2E9E-CCFF-4A40-9732-F0F29C41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6255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本文实际采用离线训练</a:t>
            </a:r>
          </a:p>
          <a:p xmlns:a="http://schemas.openxmlformats.org/drawingml/2006/main">
            <a:pPr algn="l">
              <a:def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没有跨场景或在线学习实证</a:t>
            </a:r>
          </a:p>
        </p:txBody>
      </p:sp>
    </p:spTree>
    <p:extLst>
      <p:ext uri="{BB962C8B-B14F-4D97-AF65-F5344CB8AC3E}">
        <p14:creationId xmlns:p14="http://schemas.microsoft.com/office/powerpoint/2010/main" val="11062740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E57A7-DA22-4525-82FE-09F83912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72D3B"/>
                </a:solidFill>
                <a:latin typeface="Noto Sans CJK SC"/>
                <a:ea typeface="Noto Sans CJK SC"/>
                <a:cs typeface="Noto Sans CJK SC"/>
              </a:rPr>
              <a:t>附录 C：UPA 配置下，融合优势仍然存在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BBF59-894C-429B-A771-8F6823BE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E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C28E6-4A78-4493-B1E4-8285D626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PDF p13–14，Fig.15、Table V、Appendix；阵列改为 8×4 UPA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8EB74-2788-470D-BCAE-96DF3C8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0734A-BFDF-4A45-9677-F468DF391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db87dd0704811"/>
          <a:stretch xmlns:a="http://schemas.openxmlformats.org/drawingml/2006/main"/>
        </p:blipFill>
        <p:spPr>
          <a:xfrm xmlns:a="http://schemas.openxmlformats.org/drawingml/2006/main">
            <a:off x="1416844" y="1504950"/>
            <a:ext cx="9358313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AAEE7-1732-4196-A7FE-7CD3EBC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838C"/>
                </a:solidFill>
                <a:latin typeface="Noto Sans CJK SC"/>
                <a:ea typeface="Noto Sans CJK SC"/>
                <a:cs typeface="Noto Sans CJK SC"/>
              </a:rPr>
              <a:t>2×2 当前输入：RCDNet ρ = 0.9965 / 0.9961，ACDNet = 0.9995 / 0.9970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F6BBD-B79A-4701-90CB-1119E0AC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6B75"/>
                </a:solidFill>
                <a:latin typeface="Noto Sans CJK SC"/>
                <a:ea typeface="Noto Sans CJK SC"/>
                <a:cs typeface="Noto Sans CJK SC"/>
              </a:rPr>
              <a:t>CMixer ρ = 0.9035。证明配置扩展，未证明 ULA 权重可直接迁移 UPA</a:t>
            </a:r>
          </a:p>
        </p:txBody>
      </p:sp>
    </p:spTree>
    <p:extLst>
      <p:ext uri="{BB962C8B-B14F-4D97-AF65-F5344CB8AC3E}">
        <p14:creationId xmlns:p14="http://schemas.microsoft.com/office/powerpoint/2010/main" val="1403122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2026-10-01T09:13:53.5120000Z</dcterms:created>
  <dcterms:modified xsi:type="dcterms:W3CDTF">2026-10-01T09:13:53.5120000Z</dcterms:modified>
</coreProperties>
</file>